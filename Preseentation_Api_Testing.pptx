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898B-68E5-88BB-4698-564DA2746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803B8-1C51-77CC-4A09-05C611DC6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CA13C-A890-B49B-45C8-20B19458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64D5-C71D-36A4-1763-1E902494F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48CEF-96B6-9B35-6804-BFD4C739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74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E4E8-B297-7281-A2FA-D9105E91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2C5F-0A6A-EE56-8E95-F29F34FCB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F8BB-2B48-FD93-B7BD-8F2DC4B5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362EA-B3D8-3B64-7C79-6D72362A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6C08C-C06B-742E-E92C-2B0B568D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43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46D8-EF93-B189-3496-E3E905506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611C-207C-BF4B-733A-60B2B53AF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C4470-790C-C549-CCC5-584C8F1A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09C8D-8D96-4801-3927-8D6DDC93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8E6F-935B-0315-6B5C-BBC83072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9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540-5ACF-5FF1-5AB1-C25D210B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3A85-3D37-AFA2-D690-3DB5D5C17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AB059-BCF8-C49E-6C28-DD903C98B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FF08D-C545-7703-DD55-5879084A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ECB4C-1A4E-AE8B-D2C5-E12D6B2F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0978F-1982-B3E1-0597-34726DE7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57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BE60-7ED3-6575-11CD-D1DB8ECA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FC7E3-1ED5-494F-5C24-FE1836B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8F6B2-C493-AFE8-4863-DFA43274E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6A94E-F3CB-1392-F634-767507DA9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BDDE3-6E93-15AA-969F-B246AB0D1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D30D8F-E70B-518D-D275-3034D25C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E61F-7A81-0C05-8DA8-62CD318FA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D3AD1-7EAD-A2CD-0E86-EEC34281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2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3C71-6D6F-6A8D-23B1-EC5611FC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EF924-F6ED-4F28-1B04-7BF61D5C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4AC97-025A-9920-93A9-AC7DD651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F63FB-83B4-5B6F-D018-EBC80967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2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977B8-D2E3-A7C1-F74D-2CB7E2DD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B0B6E-28E4-8AD0-710E-1F56BAE5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D598B-2475-C1DA-E9C5-2708C7F3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089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A15D-1188-5F7E-5B5C-28804856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71E9-3593-8981-E7AE-AFEB7931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E577E-7FF6-294C-38B2-943F4B1A2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509BE-4054-67EB-4DB2-8CF9E2E3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1665-0F48-FA04-4C9B-E60AA835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CB515-CEAF-668A-661E-8EADE144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48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0BE6-90F7-C896-B486-8D39F2DC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509B2-2FFA-CA7F-9381-C120F5F50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8E32C-A00E-2547-4DA7-88B8F15F9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0EDD3-336B-07D9-0825-A382A5E7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99A0F-4732-79CD-3E04-5C29FC4A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39AB4-30E9-D6D7-07EE-9550C7FC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37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1E5E-4093-D6EB-E072-D532C8276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A05A0-F376-540E-3ECB-0038FBA43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40F2-DC59-7BD6-3275-DA81C3C4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3EB4E-FC3F-FC5B-280A-90ED572E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ED7A-04FC-EDA5-4D49-C827A8E8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75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9CAA9-58D8-9D62-45F1-786FC7342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AD5B4-5B54-D7C2-F88D-DAC328E2B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9EC8A-9D58-8AB7-8355-6DA766D5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578EC-CFDB-15CD-1931-CD31BB70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C5A53-708D-D397-7727-C2B31A33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53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024BE-8848-0D89-E1AD-9CAC6C7C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F99DF-C6B1-1804-8F50-560AE012A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3800F-3C23-7E06-2760-41F323DA2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D27CF-7436-493F-B412-E81E07E88F3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3A1FB-80AE-F52F-DFF7-545F6A5F5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4AF2-6707-5D3E-7F7D-D896D35A6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994BC-F618-401C-B79E-0230090F43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54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/>
          </a:bodyPr>
          <a:lstStyle/>
          <a:p>
            <a:r>
              <a:rPr lang="en-GB" sz="2000" b="1" dirty="0"/>
              <a:t>🛝 Slide 1: Project Title &amp; Overview</a:t>
            </a:r>
          </a:p>
          <a:p>
            <a:r>
              <a:rPr lang="en-GB" sz="2000" b="1" dirty="0"/>
              <a:t>Slide Title: 🚀 Enterprise-Grade API Test Automation Framework</a:t>
            </a:r>
          </a:p>
          <a:p>
            <a:r>
              <a:rPr lang="en-GB" sz="2000" b="1" dirty="0"/>
              <a:t>Sub-title: Decoupled Integration &amp; Unit Testing Architecture for automationexercise.com</a:t>
            </a:r>
          </a:p>
          <a:p>
            <a:r>
              <a:rPr lang="en-GB" sz="2000" b="1" dirty="0"/>
              <a:t>Visual Suggestion: Logo badges of Java, Maven, </a:t>
            </a:r>
            <a:r>
              <a:rPr lang="en-GB" sz="2000" b="1" dirty="0" err="1"/>
              <a:t>RestAssured</a:t>
            </a:r>
            <a:r>
              <a:rPr lang="en-GB" sz="2000" b="1" dirty="0"/>
              <a:t>, JUnit 5, and Mockito.</a:t>
            </a:r>
          </a:p>
          <a:p>
            <a:r>
              <a:rPr lang="en-GB" sz="2000" b="1" dirty="0"/>
              <a:t>Speaker: Matthew </a:t>
            </a:r>
            <a:r>
              <a:rPr lang="en-GB" sz="2000" b="1" dirty="0" err="1"/>
              <a:t>Corthorne</a:t>
            </a:r>
            <a:r>
              <a:rPr lang="en-GB" sz="2000" b="1" dirty="0"/>
              <a:t> (Project Lead)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Welcome and introduction to the Sprint 1 deliverables.</a:t>
            </a:r>
          </a:p>
          <a:p>
            <a:r>
              <a:rPr lang="en-GB" sz="2000" b="1" dirty="0"/>
              <a:t>Aim: Deliver a highly maintainable, type-safe API testing framework verifying live end-point health, schema bindings, and offline processing logic.</a:t>
            </a:r>
          </a:p>
          <a:p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61416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fontScale="77500" lnSpcReduction="20000"/>
          </a:bodyPr>
          <a:lstStyle/>
          <a:p>
            <a:r>
              <a:rPr lang="en-GB" sz="2000" b="1" dirty="0"/>
              <a:t>🛝 Slide 2: Meet the Team &amp; Core Roles</a:t>
            </a:r>
          </a:p>
          <a:p>
            <a:r>
              <a:rPr lang="en-GB" sz="2000" b="1" dirty="0"/>
              <a:t>Slide Title: 👥 Team Structure &amp; Agile Alignment</a:t>
            </a:r>
          </a:p>
          <a:p>
            <a:r>
              <a:rPr lang="en-GB" sz="2000" b="1" dirty="0"/>
              <a:t>Content: Roster of the 7 QA &amp; Automation engineers:</a:t>
            </a:r>
          </a:p>
          <a:p>
            <a:r>
              <a:rPr lang="en-GB" sz="2000" b="1" dirty="0"/>
              <a:t>Matthew </a:t>
            </a:r>
            <a:r>
              <a:rPr lang="en-GB" sz="2000" b="1" dirty="0" err="1"/>
              <a:t>Corthorne</a:t>
            </a:r>
            <a:r>
              <a:rPr lang="en-GB" sz="2000" b="1" dirty="0"/>
              <a:t> – Project Lead &amp; Lead Architect</a:t>
            </a:r>
          </a:p>
          <a:p>
            <a:r>
              <a:rPr lang="en-GB" sz="2000" b="1" dirty="0"/>
              <a:t>Oan Zia – CI/CD &amp; DevOps Lead</a:t>
            </a:r>
          </a:p>
          <a:p>
            <a:r>
              <a:rPr lang="en-GB" sz="2000" b="1" dirty="0" err="1"/>
              <a:t>Piravien</a:t>
            </a:r>
            <a:r>
              <a:rPr lang="en-GB" sz="2000" b="1" dirty="0"/>
              <a:t> – Test Case Designer</a:t>
            </a:r>
          </a:p>
          <a:p>
            <a:r>
              <a:rPr lang="en-GB" sz="2000" b="1" dirty="0" err="1"/>
              <a:t>Zeenia</a:t>
            </a:r>
            <a:r>
              <a:rPr lang="en-GB" sz="2000" b="1" dirty="0"/>
              <a:t> Haji – Senior QA Engineer</a:t>
            </a:r>
          </a:p>
          <a:p>
            <a:r>
              <a:rPr lang="en-GB" sz="2000" b="1" dirty="0" err="1"/>
              <a:t>Aerhan</a:t>
            </a:r>
            <a:r>
              <a:rPr lang="en-GB" sz="2000" b="1" dirty="0"/>
              <a:t> Srirangan – API Integration Specialist</a:t>
            </a:r>
          </a:p>
          <a:p>
            <a:r>
              <a:rPr lang="en-GB" sz="2000" b="1" dirty="0"/>
              <a:t>Salah Ali – Scrum Master</a:t>
            </a:r>
          </a:p>
          <a:p>
            <a:r>
              <a:rPr lang="en-GB" sz="2000" b="1" dirty="0" err="1"/>
              <a:t>Kamaron</a:t>
            </a:r>
            <a:r>
              <a:rPr lang="en-GB" sz="2000" b="1" dirty="0"/>
              <a:t> Daley – Automation Developer</a:t>
            </a:r>
          </a:p>
          <a:p>
            <a:r>
              <a:rPr lang="en-GB" sz="2000" b="1" dirty="0"/>
              <a:t>Speaker: Salah Ali (Scrum Master)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Clean role division to ensure simultaneous work on client, POJOs, unit tests, and CI/CD pipelines.</a:t>
            </a:r>
          </a:p>
        </p:txBody>
      </p:sp>
    </p:spTree>
    <p:extLst>
      <p:ext uri="{BB962C8B-B14F-4D97-AF65-F5344CB8AC3E}">
        <p14:creationId xmlns:p14="http://schemas.microsoft.com/office/powerpoint/2010/main" val="265679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/>
              <a:t>🛝 Slide 3: Project Goal &amp; Objectives</a:t>
            </a:r>
          </a:p>
          <a:p>
            <a:r>
              <a:rPr lang="en-GB" sz="2000" b="1" dirty="0"/>
              <a:t>Slide Title: 🎯 Scope, Bounds &amp; Objectives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Target: https://automationexercise.com/api</a:t>
            </a:r>
          </a:p>
          <a:p>
            <a:r>
              <a:rPr lang="en-GB" sz="2000" b="1" dirty="0"/>
              <a:t>Verify at least 3 distinct endpoints (Products, Brands, Product Search).</a:t>
            </a:r>
          </a:p>
          <a:p>
            <a:r>
              <a:rPr lang="en-GB" sz="2000" b="1" dirty="0"/>
              <a:t>Enforce exhaustive assertions on all response payload keys.</a:t>
            </a:r>
          </a:p>
          <a:p>
            <a:r>
              <a:rPr lang="en-GB" sz="2000" b="1" dirty="0"/>
              <a:t>Include both Happy Path (GET, matching POST/PUT) and Sad Path (unsupported methods, missing parameters).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Zeenia</a:t>
            </a:r>
            <a:r>
              <a:rPr lang="en-GB" sz="2000" b="1" dirty="0"/>
              <a:t> Haji (Senior QA Engineer)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Focusing not just on HTTP status codes (e.g. 200 OK) but verifying the entire payload response (JSON fields mapping, data types, and values).</a:t>
            </a:r>
          </a:p>
        </p:txBody>
      </p:sp>
    </p:spTree>
    <p:extLst>
      <p:ext uri="{BB962C8B-B14F-4D97-AF65-F5344CB8AC3E}">
        <p14:creationId xmlns:p14="http://schemas.microsoft.com/office/powerpoint/2010/main" val="107762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/>
              <a:t>🛝 Slide 4: Agile Management &amp; Definition of Done</a:t>
            </a:r>
          </a:p>
          <a:p>
            <a:r>
              <a:rPr lang="en-GB" sz="2000" b="1" dirty="0"/>
              <a:t>Slide Title: 📋 Sprint Board &amp; Definition of Done (DoD)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Agile Scrum planning using a structured 6-column board (PROJECT_BOARD.md).</a:t>
            </a:r>
          </a:p>
          <a:p>
            <a:r>
              <a:rPr lang="en-GB" sz="2000" b="1" dirty="0"/>
              <a:t>Notes column detailing the project goals and our rigid DoD.</a:t>
            </a:r>
          </a:p>
          <a:p>
            <a:r>
              <a:rPr lang="en-GB" sz="2000" b="1" dirty="0"/>
              <a:t>Tickets created for every task: framework setup, POJO modelling, clients, unit/integration test suites, and documentation.</a:t>
            </a:r>
          </a:p>
          <a:p>
            <a:r>
              <a:rPr lang="en-GB" sz="2000" b="1" dirty="0"/>
              <a:t>Speaker: Salah Ali (Scrum Master)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Following the Scrum framework: daily stand-ups and progress tracking.</a:t>
            </a:r>
          </a:p>
          <a:p>
            <a:r>
              <a:rPr lang="en-GB" sz="2000" b="1" dirty="0"/>
              <a:t>Highlighting our Definition of Done: compilation success, 100% test pass rate, clear documentation, and clean Git commits.</a:t>
            </a:r>
          </a:p>
        </p:txBody>
      </p:sp>
    </p:spTree>
    <p:extLst>
      <p:ext uri="{BB962C8B-B14F-4D97-AF65-F5344CB8AC3E}">
        <p14:creationId xmlns:p14="http://schemas.microsoft.com/office/powerpoint/2010/main" val="277332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/>
              <a:t>🛝 Slide 5: User Stories &amp; Scenarios</a:t>
            </a:r>
          </a:p>
          <a:p>
            <a:r>
              <a:rPr lang="en-GB" sz="2000" b="1" dirty="0"/>
              <a:t>Slide Title: 👤 User Stories &amp; GIVEN-WHEN-THEN Scenarios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User Story 1: Products Retrieval (Happy Path GET / Sad Path POST)</a:t>
            </a:r>
          </a:p>
          <a:p>
            <a:r>
              <a:rPr lang="en-GB" sz="2000" b="1" dirty="0"/>
              <a:t>User Story 2: Brands Retrieval (Happy Path GET / Sad Path PUT)</a:t>
            </a:r>
          </a:p>
          <a:p>
            <a:r>
              <a:rPr lang="en-GB" sz="2000" b="1" dirty="0"/>
              <a:t>User Story 3: Product Keyword Search (Happy Path POST with parameter / Sad Path POST missing parameter)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Piravien</a:t>
            </a:r>
            <a:r>
              <a:rPr lang="en-GB" sz="2000" b="1" dirty="0"/>
              <a:t> (Test Case Designer)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Writing user stories from the user perspective to guide automation.</a:t>
            </a:r>
          </a:p>
          <a:p>
            <a:r>
              <a:rPr lang="en-GB" sz="2000" b="1" dirty="0"/>
              <a:t>Using GIVEN-WHEN-THEN syntax to map test assertions directly to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11434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/>
          </a:bodyPr>
          <a:lstStyle/>
          <a:p>
            <a:r>
              <a:rPr lang="en-GB" sz="2000" b="1" dirty="0"/>
              <a:t>🛝 Slide 6: Framework Architecture</a:t>
            </a:r>
          </a:p>
          <a:p>
            <a:r>
              <a:rPr lang="en-GB" sz="2000" b="1" dirty="0"/>
              <a:t>Slide Title: 🏗️ Architecture &amp; Package Layout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Decoupled architecture: separation of Model (POJOs), Client (</a:t>
            </a:r>
            <a:r>
              <a:rPr lang="en-GB" sz="2000" b="1" dirty="0" err="1"/>
              <a:t>RestAssured</a:t>
            </a:r>
            <a:r>
              <a:rPr lang="en-GB" sz="2000" b="1" dirty="0"/>
              <a:t> calls), Service (Logic), and Tests.</a:t>
            </a:r>
          </a:p>
          <a:p>
            <a:r>
              <a:rPr lang="en-GB" sz="2000" b="1" dirty="0"/>
              <a:t>Maven directory layout separating source from test configurations.</a:t>
            </a:r>
          </a:p>
          <a:p>
            <a:r>
              <a:rPr lang="en-GB" sz="2000" b="1" dirty="0"/>
              <a:t>Speaker: Matthew </a:t>
            </a:r>
            <a:r>
              <a:rPr lang="en-GB" sz="2000" b="1" dirty="0" err="1"/>
              <a:t>Corthorne</a:t>
            </a:r>
            <a:r>
              <a:rPr lang="en-GB" sz="2000" b="1" dirty="0"/>
              <a:t> (Project Lead)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Keeping the client decoupled from assertions ensures that if an endpoint path changes, we only update it in one place (ApiClient.java).</a:t>
            </a:r>
          </a:p>
        </p:txBody>
      </p:sp>
    </p:spTree>
    <p:extLst>
      <p:ext uri="{BB962C8B-B14F-4D97-AF65-F5344CB8AC3E}">
        <p14:creationId xmlns:p14="http://schemas.microsoft.com/office/powerpoint/2010/main" val="58966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/>
          </a:bodyPr>
          <a:lstStyle/>
          <a:p>
            <a:r>
              <a:rPr lang="en-GB" sz="2000" b="1" dirty="0"/>
              <a:t>🛝 Slide 7: The Model (POJO) Layer</a:t>
            </a:r>
          </a:p>
          <a:p>
            <a:r>
              <a:rPr lang="en-GB" sz="2000" b="1" dirty="0"/>
              <a:t>Slide Title: 📦 POJO Response Mapping &amp; Serialisation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Mapped JSON schemas using Jackson annotations (@JsonProperty).</a:t>
            </a:r>
          </a:p>
          <a:p>
            <a:r>
              <a:rPr lang="en-GB" sz="2000" b="1" dirty="0"/>
              <a:t>Response wrappers: </a:t>
            </a:r>
            <a:r>
              <a:rPr lang="en-GB" sz="2000" b="1" dirty="0" err="1"/>
              <a:t>ProductResponse</a:t>
            </a:r>
            <a:r>
              <a:rPr lang="en-GB" sz="2000" b="1" dirty="0"/>
              <a:t> containing a list of Product objects, and </a:t>
            </a:r>
            <a:r>
              <a:rPr lang="en-GB" sz="2000" b="1" dirty="0" err="1"/>
              <a:t>BrandResponse</a:t>
            </a:r>
            <a:r>
              <a:rPr lang="en-GB" sz="2000" b="1" dirty="0"/>
              <a:t> containing Brand objects.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Aerhan</a:t>
            </a:r>
            <a:r>
              <a:rPr lang="en-GB" sz="2000" b="1" dirty="0"/>
              <a:t> Srirangan (API Integration Specialist)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Using Jackson </a:t>
            </a:r>
            <a:r>
              <a:rPr lang="en-GB" sz="2000" b="1" dirty="0" err="1"/>
              <a:t>databinds</a:t>
            </a:r>
            <a:r>
              <a:rPr lang="en-GB" sz="2000" b="1" dirty="0"/>
              <a:t> allows us to </a:t>
            </a:r>
            <a:r>
              <a:rPr lang="en-GB" sz="2000" b="1" dirty="0" err="1"/>
              <a:t>deserialise</a:t>
            </a:r>
            <a:r>
              <a:rPr lang="en-GB" sz="2000" b="1" dirty="0"/>
              <a:t> raw JSON payloads directly into Java objects, enabling type-safe assertions and IDE autocompletion.</a:t>
            </a:r>
          </a:p>
        </p:txBody>
      </p:sp>
    </p:spTree>
    <p:extLst>
      <p:ext uri="{BB962C8B-B14F-4D97-AF65-F5344CB8AC3E}">
        <p14:creationId xmlns:p14="http://schemas.microsoft.com/office/powerpoint/2010/main" val="1846851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fontScale="92500" lnSpcReduction="20000"/>
          </a:bodyPr>
          <a:lstStyle/>
          <a:p>
            <a:r>
              <a:rPr lang="en-GB" sz="2000" b="1" dirty="0"/>
              <a:t>🛝 Slide 8: The Client Layer &amp; Global Parsing</a:t>
            </a:r>
          </a:p>
          <a:p>
            <a:r>
              <a:rPr lang="en-GB" sz="2000" b="1" dirty="0"/>
              <a:t>Slide Title: 🔌 </a:t>
            </a:r>
            <a:r>
              <a:rPr lang="en-GB" sz="2000" b="1" dirty="0" err="1"/>
              <a:t>ApiClient</a:t>
            </a:r>
            <a:r>
              <a:rPr lang="en-GB" sz="2000" b="1" dirty="0"/>
              <a:t> &amp; REST-Assured Configuration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Base URI configuration targeting https://automationexercise.com/api.</a:t>
            </a:r>
          </a:p>
          <a:p>
            <a:r>
              <a:rPr lang="en-GB" sz="2000" b="1" dirty="0"/>
              <a:t>Vulnerability Resolution: Custom HTML-to-JSON parser registration:</a:t>
            </a:r>
          </a:p>
          <a:p>
            <a:r>
              <a:rPr lang="en-GB" sz="2000" b="1" dirty="0"/>
              <a:t>static {</a:t>
            </a:r>
          </a:p>
          <a:p>
            <a:r>
              <a:rPr lang="en-GB" sz="2000" b="1" dirty="0"/>
              <a:t>    </a:t>
            </a:r>
            <a:r>
              <a:rPr lang="en-GB" sz="2000" b="1" dirty="0" err="1"/>
              <a:t>RestAssured.registerParser</a:t>
            </a:r>
            <a:r>
              <a:rPr lang="en-GB" sz="2000" b="1" dirty="0"/>
              <a:t>("text/html", </a:t>
            </a:r>
            <a:r>
              <a:rPr lang="en-GB" sz="2000" b="1" dirty="0" err="1"/>
              <a:t>Parser.JSON</a:t>
            </a:r>
            <a:r>
              <a:rPr lang="en-GB" sz="2000" b="1" dirty="0"/>
              <a:t>);</a:t>
            </a:r>
          </a:p>
          <a:p>
            <a:r>
              <a:rPr lang="en-GB" sz="2000" b="1" dirty="0"/>
              <a:t>}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Kamaron</a:t>
            </a:r>
            <a:r>
              <a:rPr lang="en-GB" sz="2000" b="1" dirty="0"/>
              <a:t> Daley (Automation Developer)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Resolving the server's response content-type anomaly (text/html instead of application/</a:t>
            </a:r>
            <a:r>
              <a:rPr lang="en-GB" sz="2000" b="1" dirty="0" err="1"/>
              <a:t>json</a:t>
            </a:r>
            <a:r>
              <a:rPr lang="en-GB" sz="2000" b="1" dirty="0"/>
              <a:t>) by globally mapping the parser in the client.</a:t>
            </a:r>
          </a:p>
        </p:txBody>
      </p:sp>
    </p:spTree>
    <p:extLst>
      <p:ext uri="{BB962C8B-B14F-4D97-AF65-F5344CB8AC3E}">
        <p14:creationId xmlns:p14="http://schemas.microsoft.com/office/powerpoint/2010/main" val="17412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/>
          </a:bodyPr>
          <a:lstStyle/>
          <a:p>
            <a:r>
              <a:rPr lang="en-GB" sz="2000" b="1" dirty="0"/>
              <a:t>🛝 Slide 9: Business Logic &amp; Mockito Unit Tests</a:t>
            </a:r>
          </a:p>
          <a:p>
            <a:r>
              <a:rPr lang="en-GB" sz="2000" b="1" dirty="0"/>
              <a:t>Slide Title: 🧪 </a:t>
            </a:r>
            <a:r>
              <a:rPr lang="en-GB" sz="2000" b="1" dirty="0" err="1"/>
              <a:t>ProductService</a:t>
            </a:r>
            <a:r>
              <a:rPr lang="en-GB" sz="2000" b="1" dirty="0"/>
              <a:t> &amp; Offline Mockito Testing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 err="1"/>
              <a:t>ProductService</a:t>
            </a:r>
            <a:r>
              <a:rPr lang="en-GB" sz="2000" b="1" dirty="0"/>
              <a:t> containing filtering logic (by brand, by maximum price).</a:t>
            </a:r>
          </a:p>
          <a:p>
            <a:r>
              <a:rPr lang="en-GB" sz="2000" b="1" dirty="0"/>
              <a:t>Mockito tests mocking </a:t>
            </a:r>
            <a:r>
              <a:rPr lang="en-GB" sz="2000" b="1" dirty="0" err="1"/>
              <a:t>ApiClient</a:t>
            </a:r>
            <a:r>
              <a:rPr lang="en-GB" sz="2000" b="1" dirty="0"/>
              <a:t> and Response objects.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Kamaron</a:t>
            </a:r>
            <a:r>
              <a:rPr lang="en-GB" sz="2000" b="1" dirty="0"/>
              <a:t> Daley (Automation Developer)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Testing business logic offline without real network dependencies.</a:t>
            </a:r>
          </a:p>
          <a:p>
            <a:r>
              <a:rPr lang="en-GB" sz="2000" b="1" dirty="0"/>
              <a:t>Demonstrating the use of Mockito stubs (</a:t>
            </a:r>
            <a:r>
              <a:rPr lang="en-GB" sz="2000" b="1" dirty="0" err="1"/>
              <a:t>Mockito.when</a:t>
            </a:r>
            <a:r>
              <a:rPr lang="en-GB" sz="2000" b="1" dirty="0"/>
              <a:t>().</a:t>
            </a:r>
            <a:r>
              <a:rPr lang="en-GB" sz="2000" b="1" dirty="0" err="1"/>
              <a:t>thenReturn</a:t>
            </a:r>
            <a:r>
              <a:rPr lang="en-GB" sz="2000" b="1" dirty="0"/>
              <a:t>()) to assert calculations are correct under standard conditions.</a:t>
            </a:r>
          </a:p>
        </p:txBody>
      </p:sp>
    </p:spTree>
    <p:extLst>
      <p:ext uri="{BB962C8B-B14F-4D97-AF65-F5344CB8AC3E}">
        <p14:creationId xmlns:p14="http://schemas.microsoft.com/office/powerpoint/2010/main" val="1208207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lnSpcReduction="10000"/>
          </a:bodyPr>
          <a:lstStyle/>
          <a:p>
            <a:r>
              <a:rPr lang="en-GB" sz="2000" b="1" dirty="0"/>
              <a:t>🛝 Slide 10: Live Integration Testing</a:t>
            </a:r>
          </a:p>
          <a:p>
            <a:r>
              <a:rPr lang="en-GB" sz="2000" b="1" dirty="0"/>
              <a:t>Slide Title: 🚦 Live Integration Test Executions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 err="1"/>
              <a:t>ProductsIntegrationTest</a:t>
            </a:r>
            <a:r>
              <a:rPr lang="en-GB" sz="2000" b="1" dirty="0"/>
              <a:t>, </a:t>
            </a:r>
            <a:r>
              <a:rPr lang="en-GB" sz="2000" b="1" dirty="0" err="1"/>
              <a:t>BrandsIntegrationTest</a:t>
            </a:r>
            <a:r>
              <a:rPr lang="en-GB" sz="2000" b="1" dirty="0"/>
              <a:t>, and </a:t>
            </a:r>
            <a:r>
              <a:rPr lang="en-GB" sz="2000" b="1" dirty="0" err="1"/>
              <a:t>SearchIntegrationTest</a:t>
            </a:r>
            <a:r>
              <a:rPr lang="en-GB" sz="2000" b="1" dirty="0"/>
              <a:t>.</a:t>
            </a:r>
          </a:p>
          <a:p>
            <a:r>
              <a:rPr lang="en-GB" sz="2000" b="1" dirty="0"/>
              <a:t>Executing GET, POST, and PUT operations on live endpoints.</a:t>
            </a:r>
          </a:p>
          <a:p>
            <a:r>
              <a:rPr lang="en-GB" sz="2000" b="1" dirty="0"/>
              <a:t>Asserting HTTP status codes, JSON payload status codes, and error warning messages.</a:t>
            </a:r>
          </a:p>
          <a:p>
            <a:r>
              <a:rPr lang="en-GB" sz="2000" b="1" dirty="0"/>
              <a:t>Speaker: </a:t>
            </a:r>
            <a:r>
              <a:rPr lang="en-GB" sz="2000" b="1" dirty="0" err="1"/>
              <a:t>Zeenia</a:t>
            </a:r>
            <a:r>
              <a:rPr lang="en-GB" sz="2000" b="1" dirty="0"/>
              <a:t> Haji (Senior QA Engineer)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Live testing checks the accuracy of live API servers and validates both expected query returns and error handling on invalid requests.</a:t>
            </a:r>
          </a:p>
        </p:txBody>
      </p:sp>
    </p:spTree>
    <p:extLst>
      <p:ext uri="{BB962C8B-B14F-4D97-AF65-F5344CB8AC3E}">
        <p14:creationId xmlns:p14="http://schemas.microsoft.com/office/powerpoint/2010/main" val="257236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C95BB5-906F-3A1E-5126-125C44CD2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53" y="833967"/>
            <a:ext cx="9144000" cy="4042834"/>
          </a:xfrm>
        </p:spPr>
        <p:txBody>
          <a:bodyPr>
            <a:normAutofit lnSpcReduction="10000"/>
          </a:bodyPr>
          <a:lstStyle/>
          <a:p>
            <a:r>
              <a:rPr lang="en-GB" sz="2000" b="1" dirty="0"/>
              <a:t>🛝 Slide 11: CI/CD Pipeline &amp; Development Branching</a:t>
            </a:r>
          </a:p>
          <a:p>
            <a:r>
              <a:rPr lang="en-GB" sz="2000" b="1" dirty="0"/>
              <a:t>Slide Title: 🔄 GitHub Actions &amp; Git Flow Branching</a:t>
            </a:r>
          </a:p>
          <a:p>
            <a:r>
              <a:rPr lang="en-GB" sz="2000" b="1" dirty="0"/>
              <a:t>Content:</a:t>
            </a:r>
          </a:p>
          <a:p>
            <a:r>
              <a:rPr lang="en-GB" sz="2000" b="1" dirty="0"/>
              <a:t>Triggers configured on branch updates to main and dev.</a:t>
            </a:r>
          </a:p>
          <a:p>
            <a:r>
              <a:rPr lang="en-GB" sz="2000" b="1" dirty="0"/>
              <a:t>GitHub Runner automatically spins up Ubuntu, installs JDK 21, resolves Maven packages, and executes </a:t>
            </a:r>
            <a:r>
              <a:rPr lang="en-GB" sz="2000" b="1" dirty="0" err="1"/>
              <a:t>mvn</a:t>
            </a:r>
            <a:r>
              <a:rPr lang="en-GB" sz="2000" b="1" dirty="0"/>
              <a:t> clean test.</a:t>
            </a:r>
          </a:p>
          <a:p>
            <a:r>
              <a:rPr lang="en-GB" sz="2000" b="1" dirty="0"/>
              <a:t>Speaker: Oan Zia (CI/CD &amp; DevOps Lead)</a:t>
            </a:r>
          </a:p>
          <a:p>
            <a:r>
              <a:rPr lang="en-GB" sz="2000" b="1" dirty="0"/>
              <a:t>Key Talking Points:</a:t>
            </a:r>
          </a:p>
          <a:p>
            <a:r>
              <a:rPr lang="en-GB" sz="2000" b="1" dirty="0"/>
              <a:t>Using a development branch (dev) to isolate active changes.</a:t>
            </a:r>
          </a:p>
          <a:p>
            <a:r>
              <a:rPr lang="en-GB" sz="2000" b="1" dirty="0"/>
              <a:t>Automating quality gates: every commit pushes a test suite run, preventing broken builds from reaching main.</a:t>
            </a:r>
          </a:p>
        </p:txBody>
      </p:sp>
    </p:spTree>
    <p:extLst>
      <p:ext uri="{BB962C8B-B14F-4D97-AF65-F5344CB8AC3E}">
        <p14:creationId xmlns:p14="http://schemas.microsoft.com/office/powerpoint/2010/main" val="576098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6ACA831A-2943-6D98-19C4-0F5EF0735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D1D9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1C1633D7-8540-B916-96E8-577404120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D1D9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311448E5-0E9E-652C-C084-568AD53A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261" y="570209"/>
            <a:ext cx="8327985" cy="62786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🛝 Slide 12: Security Recommendations &amp; Handover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Slide Title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 🛡️ Security Audit &amp; Future Extensions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Secrets Isolation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 Migrate API credentials to environment variables.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JUnit Parallelization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 Configure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Monaspace Neon"/>
              </a:rPr>
              <a:t>junit-platform.properties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 to execute tests concurrently.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Soft Assertions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 Implement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Monaspace Neon"/>
              </a:rPr>
              <a:t>assertAll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space Neon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 for complete payload validation reports.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Structured Loggers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 Wrap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RestAssured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 logs in SLF4J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logback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 facades.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Speaker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Oan Zia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 (CI/CD &amp; DevOps Lead)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Key Talking Points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:</a:t>
            </a: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Providing a clean handover: how another group can easily fork, run, and scale this testing framework safely.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7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1175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Mona Sans VF</vt:lpstr>
      <vt:lpstr>Monaspace Neon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Oan Zia</dc:creator>
  <cp:lastModifiedBy>Oan Zia</cp:lastModifiedBy>
  <cp:revision>1</cp:revision>
  <dcterms:created xsi:type="dcterms:W3CDTF">2026-07-14T15:42:26Z</dcterms:created>
  <dcterms:modified xsi:type="dcterms:W3CDTF">2026-07-16T08:44:25Z</dcterms:modified>
</cp:coreProperties>
</file>